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6" r:id="rId10"/>
    <p:sldId id="269" r:id="rId11"/>
    <p:sldId id="264" r:id="rId12"/>
    <p:sldId id="262" r:id="rId13"/>
    <p:sldId id="268" r:id="rId14"/>
  </p:sldIdLst>
  <p:sldSz cx="18288000" cy="10287000"/>
  <p:notesSz cx="6858000" cy="9144000"/>
  <p:embeddedFontLst>
    <p:embeddedFont>
      <p:font typeface="ADLaM Display" panose="02010000000000000000" pitchFamily="2" charset="0"/>
      <p:regular r:id="rId16"/>
    </p:embeddedFont>
    <p:embeddedFont>
      <p:font typeface="Berlin Sans FB Demi" panose="020E0802020502020306" pitchFamily="34" charset="0"/>
      <p:bold r:id="rId17"/>
    </p:embeddedFont>
    <p:embeddedFont>
      <p:font typeface="Proxima Nova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96"/>
    <a:srgbClr val="508CD4"/>
    <a:srgbClr val="FFFF6D"/>
    <a:srgbClr val="FF3737"/>
    <a:srgbClr val="5F95D7"/>
    <a:srgbClr val="004DE6"/>
    <a:srgbClr val="80ABE0"/>
    <a:srgbClr val="001B50"/>
    <a:srgbClr val="C5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OK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6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6" name="Google Shape;136;p6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0fa475bd_0_9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830fa475bd_0_9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g3830fa475bd_0_9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1" name="Google Shape;151;g3830fa475bd_0_9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830fa475bd_0_9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30fa475bd_0_9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5A603F47-4208-F588-670B-4DA7C82A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2:notes">
            <a:extLst>
              <a:ext uri="{FF2B5EF4-FFF2-40B4-BE49-F238E27FC236}">
                <a16:creationId xmlns:a16="http://schemas.microsoft.com/office/drawing/2014/main" id="{C6EA4889-8F7F-29F8-D49E-75A5A79585BD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729E36E8-6439-1ED0-14B2-BA09086361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944D9D48-F6C3-AA1B-CAC2-8E91BF7F89B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6" name="Google Shape;136;p62:notes">
            <a:extLst>
              <a:ext uri="{FF2B5EF4-FFF2-40B4-BE49-F238E27FC236}">
                <a16:creationId xmlns:a16="http://schemas.microsoft.com/office/drawing/2014/main" id="{CA834DE7-C0ED-76BF-F4B1-685CB49EF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2:notes">
            <a:extLst>
              <a:ext uri="{FF2B5EF4-FFF2-40B4-BE49-F238E27FC236}">
                <a16:creationId xmlns:a16="http://schemas.microsoft.com/office/drawing/2014/main" id="{7F0BACB0-6C8F-3E64-2B10-20D98E1CA4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:notes">
            <a:extLst>
              <a:ext uri="{FF2B5EF4-FFF2-40B4-BE49-F238E27FC236}">
                <a16:creationId xmlns:a16="http://schemas.microsoft.com/office/drawing/2014/main" id="{D0501F83-EE15-C0AC-187A-D98025ED11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3537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635015FF-C510-032A-8DFA-244E4ECB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72AEA9D6-4731-4079-7B72-B5F68384A20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8D6F38C8-AD6F-4082-5C91-5563BE01F14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ECAD52CA-481A-800B-23DF-E47263BED40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92A28354-AC32-A5CF-2497-D63693DB0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2886B8F4-3116-7126-29D2-151B990BFB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001959A7-8EEF-0FB4-18BF-CA29195DA0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4631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7610876-E899-48BD-8AFA-6F45FD49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EE12E761-12CA-52E8-C467-DB01521262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1895F402-FFA3-E5F2-4AF4-7DC86ECC93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3AD8CF1F-91DC-8EA0-9711-FEF64E7FCD0D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7C3FE2F8-31BF-4337-1141-319149F4D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368AADC7-035E-6B5E-DBA9-3B76CEAAD2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B0F0D6F1-68E3-ED20-6FB8-835424238E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5957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C3A0891B-0A02-C4D8-D17B-C9FCEBBB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8D52E7A3-2A82-C25B-5833-28E95B42BEA6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F7065F69-1A6A-F102-C514-C921B6E21B7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70C749EF-F4C4-5FEF-CB94-52DA15551FA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6880B8D6-81B0-D357-83DD-D8C29C5F4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8A8C1DF4-86D6-7B43-DE50-1D9061DF9B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E25C02D6-9562-2D1B-15A4-6F488F9071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842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F78BA71F-255B-2102-D96C-8F610570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D3FA9295-F6BC-5215-E2E8-4366A05C021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C59E4188-3AFD-8CB0-0BF4-B9D6C048AA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81B9CE59-9B0C-3867-7B0A-75FE7872967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0367865C-D2D2-FB6D-4BFD-047DB21D0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749C0592-4F4C-E439-AADA-0418EE6377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D9F3EB23-A2F0-3F0D-CC2E-34C4AF6E40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0396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0fa475bd_0_4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30fa475bd_0_4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g3830fa475bd_0_4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8" name="Google Shape;178;g3830fa475bd_0_4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30fa475bd_0_4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30fa475bd_0_4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4585303-1C17-7FD6-839D-F40B61F7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0fa475bd_0_42:notes">
            <a:extLst>
              <a:ext uri="{FF2B5EF4-FFF2-40B4-BE49-F238E27FC236}">
                <a16:creationId xmlns:a16="http://schemas.microsoft.com/office/drawing/2014/main" id="{E600EB80-313E-F226-499A-B07412D4434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30fa475bd_0_42:notes">
            <a:extLst>
              <a:ext uri="{FF2B5EF4-FFF2-40B4-BE49-F238E27FC236}">
                <a16:creationId xmlns:a16="http://schemas.microsoft.com/office/drawing/2014/main" id="{386B8BFA-C9F2-F50B-3663-7B818C3A3BB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g3830fa475bd_0_42:notes">
            <a:extLst>
              <a:ext uri="{FF2B5EF4-FFF2-40B4-BE49-F238E27FC236}">
                <a16:creationId xmlns:a16="http://schemas.microsoft.com/office/drawing/2014/main" id="{807D2F8D-A2D8-71CB-8499-90436D76607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8" name="Google Shape;178;g3830fa475bd_0_42:notes">
            <a:extLst>
              <a:ext uri="{FF2B5EF4-FFF2-40B4-BE49-F238E27FC236}">
                <a16:creationId xmlns:a16="http://schemas.microsoft.com/office/drawing/2014/main" id="{191F7E22-6843-745E-3C62-BA7018AB2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30fa475bd_0_42:notes">
            <a:extLst>
              <a:ext uri="{FF2B5EF4-FFF2-40B4-BE49-F238E27FC236}">
                <a16:creationId xmlns:a16="http://schemas.microsoft.com/office/drawing/2014/main" id="{3F787CF2-7D37-F028-B24A-D8F4F37D48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30fa475bd_0_42:notes">
            <a:extLst>
              <a:ext uri="{FF2B5EF4-FFF2-40B4-BE49-F238E27FC236}">
                <a16:creationId xmlns:a16="http://schemas.microsoft.com/office/drawing/2014/main" id="{24B76F17-564A-2B14-2E55-83FEE148D6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75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2000">
              <a:srgbClr val="4066A0"/>
            </a:gs>
            <a:gs pos="49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/>
        </p:nvSpPr>
        <p:spPr>
          <a:xfrm>
            <a:off x="7545281" y="3722620"/>
            <a:ext cx="4852553" cy="113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776" b="1" dirty="0">
                <a:solidFill>
                  <a:srgbClr val="FFFFFF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YourMeds</a:t>
            </a:r>
            <a:endParaRPr sz="7276" b="1" i="0" u="none" strike="noStrike" cap="none" dirty="0">
              <a:solidFill>
                <a:srgbClr val="FFFFFF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456780" y="6280081"/>
            <a:ext cx="6057008" cy="219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 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8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</a:t>
            </a: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Alonso Gómez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Cristian Ferreira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Brayan Moreno</a:t>
            </a:r>
          </a:p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Fecha: </a:t>
            </a: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20-11-2025</a:t>
            </a:r>
            <a:endParaRPr sz="24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Imagen 4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A4504EB3-B836-9AD5-FED9-2E89C05B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956" y="3438525"/>
            <a:ext cx="1838325" cy="17049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F2FA5C1-B0D3-D507-51A8-77964C0ADC0E}"/>
              </a:ext>
            </a:extLst>
          </p:cNvPr>
          <p:cNvSpPr/>
          <p:nvPr/>
        </p:nvSpPr>
        <p:spPr>
          <a:xfrm>
            <a:off x="9051634" y="46818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s-E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56D635-6D5B-CCC9-6812-8F2D2EDBDFB9}"/>
              </a:ext>
            </a:extLst>
          </p:cNvPr>
          <p:cNvSpPr/>
          <p:nvPr/>
        </p:nvSpPr>
        <p:spPr>
          <a:xfrm>
            <a:off x="14449809" y="-4597629"/>
            <a:ext cx="7911926" cy="1855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20000" b="1" dirty="0">
                <a:ln w="10160">
                  <a:solidFill>
                    <a:schemeClr val="bg2">
                      <a:lumMod val="40000"/>
                      <a:lumOff val="60000"/>
                    </a:scheme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s-ES" sz="120000" b="0" cap="none" spc="0" dirty="0">
              <a:ln w="10160">
                <a:solidFill>
                  <a:schemeClr val="bg2">
                    <a:lumMod val="40000"/>
                    <a:lumOff val="60000"/>
                  </a:schemeClr>
                </a:solidFill>
                <a:prstDash val="solid"/>
              </a:ln>
              <a:noFill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FD0507-BB97-21C6-3E77-7EC7EE481439}"/>
              </a:ext>
            </a:extLst>
          </p:cNvPr>
          <p:cNvSpPr/>
          <p:nvPr/>
        </p:nvSpPr>
        <p:spPr>
          <a:xfrm rot="3211381">
            <a:off x="-3780217" y="-8916950"/>
            <a:ext cx="7911926" cy="200978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0000" b="1" dirty="0">
                <a:ln w="10160">
                  <a:solidFill>
                    <a:schemeClr val="bg2">
                      <a:lumMod val="40000"/>
                      <a:lumOff val="60000"/>
                    </a:scheme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s-ES" sz="130000" b="0" cap="none" spc="0" dirty="0">
              <a:ln w="10160">
                <a:solidFill>
                  <a:schemeClr val="bg2">
                    <a:lumMod val="40000"/>
                    <a:lumOff val="60000"/>
                  </a:schemeClr>
                </a:solidFill>
                <a:prstDash val="solid"/>
              </a:ln>
              <a:noFill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55000">
              <a:srgbClr val="80ABE0"/>
            </a:gs>
            <a:gs pos="100000">
              <a:srgbClr val="003296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1254933" y="750188"/>
            <a:ext cx="1577813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79"/>
              </a:lnSpc>
            </a:pPr>
            <a:r>
              <a:rPr lang="es-ES" sz="40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¿Alguna vez has olvidado tomar un medicamento o conoces a alguien que lucha por recordar sus horarios? </a:t>
            </a:r>
            <a:endParaRPr sz="40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818882" y="3059967"/>
            <a:ext cx="9106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</a:rPr>
              <a:t>Cada día, miles de personas olvidan tomar sus medicamentos. Lo que parece un simple olvido puede tener consecuencias.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Imagen 2" descr="Mujer con la mano en la cara&#10;&#10;El contenido generado por IA puede ser incorrecto.">
            <a:extLst>
              <a:ext uri="{FF2B5EF4-FFF2-40B4-BE49-F238E27FC236}">
                <a16:creationId xmlns:a16="http://schemas.microsoft.com/office/drawing/2014/main" id="{9A9503B7-4F20-DE77-EE2B-34A85238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34" y="3059967"/>
            <a:ext cx="4848404" cy="5292463"/>
          </a:xfrm>
          <a:prstGeom prst="rect">
            <a:avLst/>
          </a:prstGeom>
        </p:spPr>
      </p:pic>
      <p:pic>
        <p:nvPicPr>
          <p:cNvPr id="5" name="Imagen 4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BB0BA4C4-89F8-2992-51B8-93143429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2" name="Google Shape;106;p14">
            <a:extLst>
              <a:ext uri="{FF2B5EF4-FFF2-40B4-BE49-F238E27FC236}">
                <a16:creationId xmlns:a16="http://schemas.microsoft.com/office/drawing/2014/main" id="{419055EA-3840-D016-2BCA-2987709D009A}"/>
              </a:ext>
            </a:extLst>
          </p:cNvPr>
          <p:cNvSpPr txBox="1"/>
          <p:nvPr/>
        </p:nvSpPr>
        <p:spPr>
          <a:xfrm>
            <a:off x="6818882" y="4001245"/>
            <a:ext cx="46452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General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Alza de población de adulto mayor y enfermos crónicos  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F7301546-BF3E-B9D4-FD3E-0D912B1F56BE}"/>
              </a:ext>
            </a:extLst>
          </p:cNvPr>
          <p:cNvSpPr/>
          <p:nvPr/>
        </p:nvSpPr>
        <p:spPr>
          <a:xfrm>
            <a:off x="11251615" y="4569312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Google Shape;106;p14">
            <a:extLst>
              <a:ext uri="{FF2B5EF4-FFF2-40B4-BE49-F238E27FC236}">
                <a16:creationId xmlns:a16="http://schemas.microsoft.com/office/drawing/2014/main" id="{5999B7A1-AD33-43C4-8433-E3E105DDF26D}"/>
              </a:ext>
            </a:extLst>
          </p:cNvPr>
          <p:cNvSpPr txBox="1"/>
          <p:nvPr/>
        </p:nvSpPr>
        <p:spPr>
          <a:xfrm>
            <a:off x="12062694" y="4370577"/>
            <a:ext cx="464523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Aumento de toma de medicamento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06;p14">
            <a:extLst>
              <a:ext uri="{FF2B5EF4-FFF2-40B4-BE49-F238E27FC236}">
                <a16:creationId xmlns:a16="http://schemas.microsoft.com/office/drawing/2014/main" id="{234695DC-F43B-D3DD-5B1C-A7D949B1B7A9}"/>
              </a:ext>
            </a:extLst>
          </p:cNvPr>
          <p:cNvSpPr txBox="1"/>
          <p:nvPr/>
        </p:nvSpPr>
        <p:spPr>
          <a:xfrm>
            <a:off x="6818881" y="5376495"/>
            <a:ext cx="464523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Específicos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6 / 10 personas (58%)</a:t>
            </a:r>
          </a:p>
          <a:p>
            <a:pPr lvl="1"/>
            <a:endParaRPr lang="es-ES" sz="2400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13 % de las personas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8BA9B4D-86CF-07EF-B742-043F3B1E8ACA}"/>
              </a:ext>
            </a:extLst>
          </p:cNvPr>
          <p:cNvSpPr/>
          <p:nvPr/>
        </p:nvSpPr>
        <p:spPr>
          <a:xfrm>
            <a:off x="10230308" y="5747580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Google Shape;106;p14">
            <a:extLst>
              <a:ext uri="{FF2B5EF4-FFF2-40B4-BE49-F238E27FC236}">
                <a16:creationId xmlns:a16="http://schemas.microsoft.com/office/drawing/2014/main" id="{07DC5B21-5A1A-CDAE-F781-4D988318B1AE}"/>
              </a:ext>
            </a:extLst>
          </p:cNvPr>
          <p:cNvSpPr txBox="1"/>
          <p:nvPr/>
        </p:nvSpPr>
        <p:spPr>
          <a:xfrm>
            <a:off x="10973148" y="5734448"/>
            <a:ext cx="4645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Toman algún medicamento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2AC6FE55-F603-123E-7AEC-C4C918BA242A}"/>
              </a:ext>
            </a:extLst>
          </p:cNvPr>
          <p:cNvSpPr/>
          <p:nvPr/>
        </p:nvSpPr>
        <p:spPr>
          <a:xfrm>
            <a:off x="10230308" y="6485367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Google Shape;106;p14">
            <a:extLst>
              <a:ext uri="{FF2B5EF4-FFF2-40B4-BE49-F238E27FC236}">
                <a16:creationId xmlns:a16="http://schemas.microsoft.com/office/drawing/2014/main" id="{91E062A8-4681-072D-3D2F-A803F2BF94E7}"/>
              </a:ext>
            </a:extLst>
          </p:cNvPr>
          <p:cNvSpPr txBox="1"/>
          <p:nvPr/>
        </p:nvSpPr>
        <p:spPr>
          <a:xfrm>
            <a:off x="10973148" y="6485367"/>
            <a:ext cx="4645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Son polifarmacia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106;p14">
            <a:extLst>
              <a:ext uri="{FF2B5EF4-FFF2-40B4-BE49-F238E27FC236}">
                <a16:creationId xmlns:a16="http://schemas.microsoft.com/office/drawing/2014/main" id="{2D490319-D163-81B8-E140-919692E0F406}"/>
              </a:ext>
            </a:extLst>
          </p:cNvPr>
          <p:cNvSpPr txBox="1"/>
          <p:nvPr/>
        </p:nvSpPr>
        <p:spPr>
          <a:xfrm>
            <a:off x="6818881" y="7208148"/>
            <a:ext cx="387545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Impacto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Olvido o poca adherencia del tratamiento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759CC53-2946-3DFC-FB55-9647B08B51A9}"/>
              </a:ext>
            </a:extLst>
          </p:cNvPr>
          <p:cNvSpPr/>
          <p:nvPr/>
        </p:nvSpPr>
        <p:spPr>
          <a:xfrm>
            <a:off x="10847213" y="7730568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Google Shape;106;p14">
            <a:extLst>
              <a:ext uri="{FF2B5EF4-FFF2-40B4-BE49-F238E27FC236}">
                <a16:creationId xmlns:a16="http://schemas.microsoft.com/office/drawing/2014/main" id="{00BA2431-5B80-624B-3A81-9AFAE1B9528E}"/>
              </a:ext>
            </a:extLst>
          </p:cNvPr>
          <p:cNvSpPr txBox="1"/>
          <p:nvPr/>
        </p:nvSpPr>
        <p:spPr>
          <a:xfrm>
            <a:off x="11589572" y="7577480"/>
            <a:ext cx="464523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Eficacia de tratamiento y/o efecto adversos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61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1707820" y="3028211"/>
            <a:ext cx="4650970" cy="5214421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277371" y="4516476"/>
            <a:ext cx="3737302" cy="40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550" lvl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</a:pPr>
            <a:r>
              <a:rPr lang="es-CL" sz="23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Desarrollamos una aplicación móvil que permita gestionar de manera eficiente la toma de medicamentos registrados asignado por su medico tratante.</a:t>
            </a:r>
            <a:endParaRPr sz="23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471205" y="3444202"/>
            <a:ext cx="3124200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Objetivo General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107405" y="3028211"/>
            <a:ext cx="4223657" cy="5214421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00890" y="4368858"/>
            <a:ext cx="3294743" cy="31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550" lvl="0" algn="ctr">
              <a:buClr>
                <a:srgbClr val="FFFFFF"/>
              </a:buClr>
              <a:buSzPts val="2300"/>
            </a:pPr>
            <a:r>
              <a:rPr lang="es-ES" sz="2300" dirty="0">
                <a:solidFill>
                  <a:schemeClr val="bg1"/>
                </a:solidFill>
                <a:latin typeface="Proxima Nova" panose="020B0604020202020204" charset="0"/>
              </a:rPr>
              <a:t>Muchos adultos mayores y pacientes con polifarmacia olvidan dosis o confunden horarios. Una app dedicada a la toma de medicamentos aporta seguridad y apoyo en la organización diaria.</a:t>
            </a:r>
            <a:endParaRPr sz="23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8073502" y="3444202"/>
            <a:ext cx="2349518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Justificación</a:t>
            </a:r>
            <a:endParaRPr dirty="0">
              <a:latin typeface="Berlin Sans FB Demi" panose="020E0802020502020306" pitchFamily="34" charset="0"/>
            </a:endParaRPr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1C825BCC-FDE1-192D-95DF-C8A4E259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575" y="9077973"/>
            <a:ext cx="870314" cy="807182"/>
          </a:xfrm>
          <a:prstGeom prst="rect">
            <a:avLst/>
          </a:prstGeom>
        </p:spPr>
      </p:pic>
      <p:sp>
        <p:nvSpPr>
          <p:cNvPr id="6" name="Google Shape;125;p15">
            <a:extLst>
              <a:ext uri="{FF2B5EF4-FFF2-40B4-BE49-F238E27FC236}">
                <a16:creationId xmlns:a16="http://schemas.microsoft.com/office/drawing/2014/main" id="{1041545A-CB6A-75A2-C1EA-D33692C404C8}"/>
              </a:ext>
            </a:extLst>
          </p:cNvPr>
          <p:cNvSpPr txBox="1"/>
          <p:nvPr/>
        </p:nvSpPr>
        <p:spPr>
          <a:xfrm>
            <a:off x="12822599" y="1486227"/>
            <a:ext cx="3352800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Aplicación Móvil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8" name="Google Shape;126;p15">
            <a:extLst>
              <a:ext uri="{FF2B5EF4-FFF2-40B4-BE49-F238E27FC236}">
                <a16:creationId xmlns:a16="http://schemas.microsoft.com/office/drawing/2014/main" id="{4BA7AB9A-237F-E5EA-8C41-DAAFFA8C8735}"/>
              </a:ext>
            </a:extLst>
          </p:cNvPr>
          <p:cNvSpPr txBox="1"/>
          <p:nvPr/>
        </p:nvSpPr>
        <p:spPr>
          <a:xfrm>
            <a:off x="6483165" y="876766"/>
            <a:ext cx="5472136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4900" b="1" dirty="0">
                <a:solidFill>
                  <a:srgbClr val="001B5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Solución propuesta</a:t>
            </a:r>
            <a:endParaRPr dirty="0">
              <a:solidFill>
                <a:srgbClr val="001B5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2DD34C9-639E-ACC4-1624-4027232E4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370" y="2214022"/>
            <a:ext cx="3079259" cy="68427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8000">
              <a:srgbClr val="80ABE0">
                <a:lumMod val="89000"/>
              </a:srgbClr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76FAC2C3-CE67-D856-97F4-5E54883E663A}"/>
              </a:ext>
            </a:extLst>
          </p:cNvPr>
          <p:cNvSpPr/>
          <p:nvPr/>
        </p:nvSpPr>
        <p:spPr>
          <a:xfrm>
            <a:off x="2498463" y="4090722"/>
            <a:ext cx="13291069" cy="4937485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2593074" y="2523355"/>
            <a:ext cx="13101851" cy="210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es-ES" sz="2300" dirty="0">
                <a:latin typeface="Proxima Nova" panose="020B0604020202020204" charset="0"/>
              </a:rPr>
              <a:t>El proyecto YourMeds aborda una problemática crítica y recurrentes en los pacientes que se le asigna un tratamiento específico.</a:t>
            </a:r>
            <a:r>
              <a:rPr lang="es-ES" sz="2400" b="1" dirty="0"/>
              <a:t> </a:t>
            </a:r>
          </a:p>
          <a:p>
            <a:pPr lvl="0" algn="just">
              <a:spcBef>
                <a:spcPts val="600"/>
              </a:spcBef>
            </a:pPr>
            <a:endParaRPr lang="es-ES" sz="2400" b="1" dirty="0"/>
          </a:p>
          <a:p>
            <a:pPr lvl="0" algn="just">
              <a:spcBef>
                <a:spcPts val="600"/>
              </a:spcBef>
            </a:pPr>
            <a:endParaRPr lang="es-ES" sz="2300" b="0" dirty="0">
              <a:solidFill>
                <a:schemeClr val="dk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  <a:p>
            <a:pPr lvl="0" algn="just">
              <a:spcBef>
                <a:spcPts val="600"/>
              </a:spcBef>
            </a:pPr>
            <a:endParaRPr sz="2300" b="0" dirty="0">
              <a:solidFill>
                <a:schemeClr val="dk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98653602-EA5F-8A96-D214-D88D2CCA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6" name="Google Shape;142;p16">
            <a:extLst>
              <a:ext uri="{FF2B5EF4-FFF2-40B4-BE49-F238E27FC236}">
                <a16:creationId xmlns:a16="http://schemas.microsoft.com/office/drawing/2014/main" id="{BD6E800C-01E9-8F57-C282-16BFF1BE5507}"/>
              </a:ext>
            </a:extLst>
          </p:cNvPr>
          <p:cNvSpPr txBox="1"/>
          <p:nvPr/>
        </p:nvSpPr>
        <p:spPr>
          <a:xfrm>
            <a:off x="3208222" y="4652178"/>
            <a:ext cx="11871550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s-CL" sz="2400" b="1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YourMeds</a:t>
            </a: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 se vuelve relevante porque: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s-CL" sz="2400" dirty="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49263" marR="0" lvl="0" indent="-4492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Promueve adherencia terapéutica a través de recordatorios inteligentes, alarmas confiables y una interfaz simple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Es un aporte directo a la salud de los pacientes, responde a una problemática real, frecuente y con alto impacto social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Centraliza la gestión de tratamiento, permitiendo organizar horarios de los medicamentos incluso compartirlos a otros usuarios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Apoya al entorno familiar como también a cuidadoras profesionales de pacientes.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endParaRPr sz="2400" b="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26;p15">
            <a:extLst>
              <a:ext uri="{FF2B5EF4-FFF2-40B4-BE49-F238E27FC236}">
                <a16:creationId xmlns:a16="http://schemas.microsoft.com/office/drawing/2014/main" id="{DF6CBD6A-6D24-1E98-E43A-95D55DD49B94}"/>
              </a:ext>
            </a:extLst>
          </p:cNvPr>
          <p:cNvSpPr txBox="1"/>
          <p:nvPr/>
        </p:nvSpPr>
        <p:spPr>
          <a:xfrm>
            <a:off x="4342650" y="717050"/>
            <a:ext cx="960269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Relevancia del proyecto YourMeds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56000">
              <a:srgbClr val="80ABE0">
                <a:lumMod val="90000"/>
                <a:lumOff val="10000"/>
              </a:srgbClr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6;p15">
            <a:extLst>
              <a:ext uri="{FF2B5EF4-FFF2-40B4-BE49-F238E27FC236}">
                <a16:creationId xmlns:a16="http://schemas.microsoft.com/office/drawing/2014/main" id="{CDC127CE-1844-BD81-6A35-9B7558D8F8DB}"/>
              </a:ext>
            </a:extLst>
          </p:cNvPr>
          <p:cNvSpPr txBox="1"/>
          <p:nvPr/>
        </p:nvSpPr>
        <p:spPr>
          <a:xfrm>
            <a:off x="6189260" y="643335"/>
            <a:ext cx="590948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Objetivos principales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" name="Imagen 3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B34579D5-9F48-7C70-3E60-252BDE0EB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13" name="Google Shape;123;p15">
            <a:extLst>
              <a:ext uri="{FF2B5EF4-FFF2-40B4-BE49-F238E27FC236}">
                <a16:creationId xmlns:a16="http://schemas.microsoft.com/office/drawing/2014/main" id="{28AEAC9D-D20A-86E9-6C20-B6BF5A81167B}"/>
              </a:ext>
            </a:extLst>
          </p:cNvPr>
          <p:cNvSpPr/>
          <p:nvPr/>
        </p:nvSpPr>
        <p:spPr>
          <a:xfrm>
            <a:off x="2913642" y="2288514"/>
            <a:ext cx="13006316" cy="6873534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24;p15">
            <a:extLst>
              <a:ext uri="{FF2B5EF4-FFF2-40B4-BE49-F238E27FC236}">
                <a16:creationId xmlns:a16="http://schemas.microsoft.com/office/drawing/2014/main" id="{CC369A28-AF04-9DD3-D667-66933B9074F5}"/>
              </a:ext>
            </a:extLst>
          </p:cNvPr>
          <p:cNvSpPr txBox="1"/>
          <p:nvPr/>
        </p:nvSpPr>
        <p:spPr>
          <a:xfrm>
            <a:off x="3780838" y="3109180"/>
            <a:ext cx="11271923" cy="523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Diseñar una arquitectura backend en Spring Boot que permita gestionar usuarios, grupos y alarmas.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Implementar una base de datos en MySQL optimizada para almacenar información de pacientes, medicamentos y recordatorios.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Desarrollar una aplicación móvil en React Native para administrar las alarmas.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Incorporar un sistema de notificaciones locales confiable mediante Notifee para recordar medicamentos incluso con la app cerrada.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Permitir creación y administración de grupos privados y compartidos para organizar alarmas y usuarios.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Implementar seguridad mediante tokens JWT y roles definidos.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Contener la solución en Docker para asegurar escalabilidad y despliegue en entornos </a:t>
            </a:r>
            <a:r>
              <a:rPr lang="es-ES" sz="2000" dirty="0" err="1">
                <a:solidFill>
                  <a:schemeClr val="bg1"/>
                </a:solidFill>
                <a:latin typeface="Proxima Nova" panose="020B0604020202020204" charset="0"/>
              </a:rPr>
              <a:t>cloud</a:t>
            </a: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.</a:t>
            </a:r>
            <a:endParaRPr sz="20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5000">
              <a:srgbClr val="5F95D7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39">
          <a:extLst>
            <a:ext uri="{FF2B5EF4-FFF2-40B4-BE49-F238E27FC236}">
              <a16:creationId xmlns:a16="http://schemas.microsoft.com/office/drawing/2014/main" id="{9E504149-BC64-F772-2BEF-F78C78E8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21C08EB3-769D-02A5-8B07-37DA65F03BA8}"/>
              </a:ext>
            </a:extLst>
          </p:cNvPr>
          <p:cNvSpPr/>
          <p:nvPr/>
        </p:nvSpPr>
        <p:spPr>
          <a:xfrm>
            <a:off x="1086428" y="1621914"/>
            <a:ext cx="8514772" cy="8161910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6E5D1E1A-8992-AC5C-B129-04C37E5C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101" y="9029371"/>
            <a:ext cx="870314" cy="807182"/>
          </a:xfrm>
          <a:prstGeom prst="rect">
            <a:avLst/>
          </a:prstGeom>
        </p:spPr>
      </p:pic>
      <p:sp>
        <p:nvSpPr>
          <p:cNvPr id="6" name="Google Shape;142;p16">
            <a:extLst>
              <a:ext uri="{FF2B5EF4-FFF2-40B4-BE49-F238E27FC236}">
                <a16:creationId xmlns:a16="http://schemas.microsoft.com/office/drawing/2014/main" id="{4660F9D5-6743-306A-7C02-A1064532BBE1}"/>
              </a:ext>
            </a:extLst>
          </p:cNvPr>
          <p:cNvSpPr txBox="1"/>
          <p:nvPr/>
        </p:nvSpPr>
        <p:spPr>
          <a:xfrm>
            <a:off x="4281670" y="1621914"/>
            <a:ext cx="2146219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44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Kanban</a:t>
            </a:r>
            <a:endParaRPr sz="4400" b="1" dirty="0">
              <a:solidFill>
                <a:schemeClr val="bg1"/>
              </a:solidFill>
              <a:latin typeface="Berlin Sans FB Demi" panose="020E0802020502020306" pitchFamily="3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26;p15">
            <a:extLst>
              <a:ext uri="{FF2B5EF4-FFF2-40B4-BE49-F238E27FC236}">
                <a16:creationId xmlns:a16="http://schemas.microsoft.com/office/drawing/2014/main" id="{5A37CEF5-55FB-7D5F-DC9B-74FD212F9CBF}"/>
              </a:ext>
            </a:extLst>
          </p:cNvPr>
          <p:cNvSpPr txBox="1"/>
          <p:nvPr/>
        </p:nvSpPr>
        <p:spPr>
          <a:xfrm>
            <a:off x="4799851" y="503176"/>
            <a:ext cx="960269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Metodología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7E78934-5C76-6F25-0958-7AD75AB8D0F6}"/>
              </a:ext>
            </a:extLst>
          </p:cNvPr>
          <p:cNvSpPr/>
          <p:nvPr/>
        </p:nvSpPr>
        <p:spPr>
          <a:xfrm>
            <a:off x="1608982" y="2742242"/>
            <a:ext cx="7491593" cy="1411376"/>
          </a:xfrm>
          <a:prstGeom prst="roundRect">
            <a:avLst/>
          </a:prstGeom>
          <a:solidFill>
            <a:srgbClr val="FF37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Pendiente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FAFEF87-D120-993C-6256-7532B15FFD55}"/>
              </a:ext>
            </a:extLst>
          </p:cNvPr>
          <p:cNvSpPr/>
          <p:nvPr/>
        </p:nvSpPr>
        <p:spPr>
          <a:xfrm>
            <a:off x="1652407" y="4367493"/>
            <a:ext cx="7491593" cy="14113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En Proceso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6CA57A1-C9A4-CC05-9516-7CD7E2BF3A87}"/>
              </a:ext>
            </a:extLst>
          </p:cNvPr>
          <p:cNvSpPr/>
          <p:nvPr/>
        </p:nvSpPr>
        <p:spPr>
          <a:xfrm>
            <a:off x="1652407" y="5992744"/>
            <a:ext cx="7491593" cy="1411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En Revisión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0A63C21-E3FE-0A6E-2818-EB5515667D9C}"/>
              </a:ext>
            </a:extLst>
          </p:cNvPr>
          <p:cNvSpPr/>
          <p:nvPr/>
        </p:nvSpPr>
        <p:spPr>
          <a:xfrm>
            <a:off x="1652406" y="7617995"/>
            <a:ext cx="7491593" cy="1411376"/>
          </a:xfrm>
          <a:prstGeom prst="roundRect">
            <a:avLst/>
          </a:prstGeom>
          <a:solidFill>
            <a:srgbClr val="508C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Finalizado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0200243-74D8-F851-AE98-3E69AC29414D}"/>
              </a:ext>
            </a:extLst>
          </p:cNvPr>
          <p:cNvSpPr/>
          <p:nvPr/>
        </p:nvSpPr>
        <p:spPr>
          <a:xfrm>
            <a:off x="9911664" y="6822023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Cristian Ferreira</a:t>
            </a: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Desarrollador FullStack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B6A2A6D-1012-8C8E-702A-5A5724643542}"/>
              </a:ext>
            </a:extLst>
          </p:cNvPr>
          <p:cNvSpPr/>
          <p:nvPr/>
        </p:nvSpPr>
        <p:spPr>
          <a:xfrm>
            <a:off x="9911664" y="4586664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Brayan Moreno</a:t>
            </a: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Scrum Master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BA718AD-E34D-35C3-F5EA-BEE18EB72646}"/>
              </a:ext>
            </a:extLst>
          </p:cNvPr>
          <p:cNvSpPr/>
          <p:nvPr/>
        </p:nvSpPr>
        <p:spPr>
          <a:xfrm>
            <a:off x="9911664" y="2253673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Alonso Gómez</a:t>
            </a:r>
            <a:endParaRPr lang="es-CL" sz="3200" b="1" dirty="0">
              <a:latin typeface="Berlin Sans FB Demi" panose="020E0802020502020306" pitchFamily="34" charset="0"/>
            </a:endParaRP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Product Owner</a:t>
            </a:r>
          </a:p>
        </p:txBody>
      </p:sp>
    </p:spTree>
    <p:extLst>
      <p:ext uri="{BB962C8B-B14F-4D97-AF65-F5344CB8AC3E}">
        <p14:creationId xmlns:p14="http://schemas.microsoft.com/office/powerpoint/2010/main" val="63841759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7537676" y="540087"/>
            <a:ext cx="321264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Caso de uso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B885286A-3B94-E09D-65B5-1343973BC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882" y="1459384"/>
            <a:ext cx="5602235" cy="82875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B0807A4-0AFC-513D-549E-34E88859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F6F1986A-0972-AA07-71BB-60647814C8BE}"/>
              </a:ext>
            </a:extLst>
          </p:cNvPr>
          <p:cNvSpPr txBox="1"/>
          <p:nvPr/>
        </p:nvSpPr>
        <p:spPr>
          <a:xfrm>
            <a:off x="7335982" y="743034"/>
            <a:ext cx="361603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Arquitectura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CDDF6C8A-7970-29A4-2889-EB411B779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91" y="2261937"/>
            <a:ext cx="16608018" cy="65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6436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F41F76D-8D32-3574-BDB2-27AAD0A4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155ABFC6-4644-C549-4DE1-31C43E17D271}"/>
              </a:ext>
            </a:extLst>
          </p:cNvPr>
          <p:cNvSpPr txBox="1"/>
          <p:nvPr/>
        </p:nvSpPr>
        <p:spPr>
          <a:xfrm>
            <a:off x="4254275" y="95753"/>
            <a:ext cx="9779449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Desarrollo (</a:t>
            </a:r>
            <a:r>
              <a:rPr lang="es-CL" sz="4900" b="1" dirty="0" err="1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Backend</a:t>
            </a: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): Patrón MVC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FBD3C4-11F6-2488-BB3C-27DB5D205A90}"/>
              </a:ext>
            </a:extLst>
          </p:cNvPr>
          <p:cNvSpPr/>
          <p:nvPr/>
        </p:nvSpPr>
        <p:spPr>
          <a:xfrm>
            <a:off x="-928051" y="978597"/>
            <a:ext cx="19816549" cy="86449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DD83E2-D7C1-E7E1-5875-7FBA4CEE1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51" y="1313069"/>
            <a:ext cx="722924" cy="722924"/>
          </a:xfrm>
          <a:prstGeom prst="rect">
            <a:avLst/>
          </a:prstGeom>
        </p:spPr>
      </p:pic>
      <p:sp>
        <p:nvSpPr>
          <p:cNvPr id="5" name="Google Shape;173;p18">
            <a:extLst>
              <a:ext uri="{FF2B5EF4-FFF2-40B4-BE49-F238E27FC236}">
                <a16:creationId xmlns:a16="http://schemas.microsoft.com/office/drawing/2014/main" id="{BBE40AB6-7A75-D384-ECE7-C6466B3ADBC1}"/>
              </a:ext>
            </a:extLst>
          </p:cNvPr>
          <p:cNvSpPr txBox="1"/>
          <p:nvPr/>
        </p:nvSpPr>
        <p:spPr>
          <a:xfrm>
            <a:off x="1363222" y="1469859"/>
            <a:ext cx="1635456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Entity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B16A98-48FC-4754-DADE-4568EB3A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3309467"/>
            <a:ext cx="722924" cy="722924"/>
          </a:xfrm>
          <a:prstGeom prst="rect">
            <a:avLst/>
          </a:prstGeom>
        </p:spPr>
      </p:pic>
      <p:sp>
        <p:nvSpPr>
          <p:cNvPr id="8" name="Google Shape;173;p18">
            <a:extLst>
              <a:ext uri="{FF2B5EF4-FFF2-40B4-BE49-F238E27FC236}">
                <a16:creationId xmlns:a16="http://schemas.microsoft.com/office/drawing/2014/main" id="{462D1550-170B-DCDE-0C7B-ABF3296A8F42}"/>
              </a:ext>
            </a:extLst>
          </p:cNvPr>
          <p:cNvSpPr txBox="1"/>
          <p:nvPr/>
        </p:nvSpPr>
        <p:spPr>
          <a:xfrm>
            <a:off x="1376870" y="3466257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Controller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E8A07C9-50C2-F0C0-F27C-97B2B644C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5367431"/>
            <a:ext cx="722924" cy="722924"/>
          </a:xfrm>
          <a:prstGeom prst="rect">
            <a:avLst/>
          </a:prstGeom>
        </p:spPr>
      </p:pic>
      <p:sp>
        <p:nvSpPr>
          <p:cNvPr id="10" name="Google Shape;173;p18">
            <a:extLst>
              <a:ext uri="{FF2B5EF4-FFF2-40B4-BE49-F238E27FC236}">
                <a16:creationId xmlns:a16="http://schemas.microsoft.com/office/drawing/2014/main" id="{8109208A-E1D8-154B-0A9E-72F97997AF54}"/>
              </a:ext>
            </a:extLst>
          </p:cNvPr>
          <p:cNvSpPr txBox="1"/>
          <p:nvPr/>
        </p:nvSpPr>
        <p:spPr>
          <a:xfrm>
            <a:off x="1376869" y="5524221"/>
            <a:ext cx="187129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Service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D6C7E5C-4EE8-87A5-F1DC-F2791237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7432304"/>
            <a:ext cx="722924" cy="722924"/>
          </a:xfrm>
          <a:prstGeom prst="rect">
            <a:avLst/>
          </a:prstGeom>
        </p:spPr>
      </p:pic>
      <p:sp>
        <p:nvSpPr>
          <p:cNvPr id="12" name="Google Shape;173;p18">
            <a:extLst>
              <a:ext uri="{FF2B5EF4-FFF2-40B4-BE49-F238E27FC236}">
                <a16:creationId xmlns:a16="http://schemas.microsoft.com/office/drawing/2014/main" id="{FCA4776D-3597-2BC3-60B5-0420896F4334}"/>
              </a:ext>
            </a:extLst>
          </p:cNvPr>
          <p:cNvSpPr txBox="1"/>
          <p:nvPr/>
        </p:nvSpPr>
        <p:spPr>
          <a:xfrm>
            <a:off x="1376870" y="7589094"/>
            <a:ext cx="187129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Repository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1A7F09A-C87A-A73A-E7C0-E821E8FF5A43}"/>
              </a:ext>
            </a:extLst>
          </p:cNvPr>
          <p:cNvSpPr/>
          <p:nvPr/>
        </p:nvSpPr>
        <p:spPr>
          <a:xfrm>
            <a:off x="2094929" y="205109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Contiene los modelos de datos que representan las tablas y entidades del sistema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7D3EA5-D990-DDEF-75AF-983F079D659A}"/>
              </a:ext>
            </a:extLst>
          </p:cNvPr>
          <p:cNvSpPr/>
          <p:nvPr/>
        </p:nvSpPr>
        <p:spPr>
          <a:xfrm>
            <a:off x="2094929" y="4003853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Define los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endpoints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REST, recibe solicitudes, valida datos y retorna respuestas usando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DTOs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delegando la lógica al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Service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A4B63DB-53DE-B412-1E36-E86408152F0D}"/>
              </a:ext>
            </a:extLst>
          </p:cNvPr>
          <p:cNvSpPr/>
          <p:nvPr/>
        </p:nvSpPr>
        <p:spPr>
          <a:xfrm>
            <a:off x="2094928" y="620373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Implementa la lógica de negocio, validaciones, flujos de la aplicación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B28DEC0-54C8-44F4-841A-C1E65D5CFE4A}"/>
              </a:ext>
            </a:extLst>
          </p:cNvPr>
          <p:cNvSpPr/>
          <p:nvPr/>
        </p:nvSpPr>
        <p:spPr>
          <a:xfrm>
            <a:off x="2094927" y="812669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Interactúa directamente con la base de datos (Spring Data JPA). Manteniendo la persistencia de estos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CD43740-4CD0-CF44-560B-07527AFCA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78" y="3254873"/>
            <a:ext cx="722924" cy="72292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10D0F2E0-450D-1081-B615-0DABAF9C0EB4}"/>
              </a:ext>
            </a:extLst>
          </p:cNvPr>
          <p:cNvSpPr/>
          <p:nvPr/>
        </p:nvSpPr>
        <p:spPr>
          <a:xfrm>
            <a:off x="10719908" y="3949260"/>
            <a:ext cx="7226896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Maneja objetos de transferencia (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Request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/Response), separando datos internos del modelo expuesto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0" name="Google Shape;173;p18">
            <a:extLst>
              <a:ext uri="{FF2B5EF4-FFF2-40B4-BE49-F238E27FC236}">
                <a16:creationId xmlns:a16="http://schemas.microsoft.com/office/drawing/2014/main" id="{E3D502CF-7BFD-F2E0-FF06-2237B799CB35}"/>
              </a:ext>
            </a:extLst>
          </p:cNvPr>
          <p:cNvSpPr txBox="1"/>
          <p:nvPr/>
        </p:nvSpPr>
        <p:spPr>
          <a:xfrm>
            <a:off x="10454906" y="3411664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DTO/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2F38377-C3F1-706A-03C3-C632D387E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78" y="5317080"/>
            <a:ext cx="722924" cy="722924"/>
          </a:xfrm>
          <a:prstGeom prst="rect">
            <a:avLst/>
          </a:prstGeom>
        </p:spPr>
      </p:pic>
      <p:sp>
        <p:nvSpPr>
          <p:cNvPr id="22" name="Google Shape;173;p18">
            <a:extLst>
              <a:ext uri="{FF2B5EF4-FFF2-40B4-BE49-F238E27FC236}">
                <a16:creationId xmlns:a16="http://schemas.microsoft.com/office/drawing/2014/main" id="{1088D8A8-CFBC-EEA4-A119-69AACEE84CCA}"/>
              </a:ext>
            </a:extLst>
          </p:cNvPr>
          <p:cNvSpPr txBox="1"/>
          <p:nvPr/>
        </p:nvSpPr>
        <p:spPr>
          <a:xfrm>
            <a:off x="10454906" y="5473871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Config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17FF631-C259-A830-37DB-C7F70F0865BA}"/>
              </a:ext>
            </a:extLst>
          </p:cNvPr>
          <p:cNvSpPr/>
          <p:nvPr/>
        </p:nvSpPr>
        <p:spPr>
          <a:xfrm>
            <a:off x="10719908" y="6035762"/>
            <a:ext cx="7226896" cy="334024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Contiene toda la configuración del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framework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y seguridad:</a:t>
            </a:r>
          </a:p>
          <a:p>
            <a:endParaRPr lang="es-MX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JwtAuthenticationFilter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filtra cada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request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valida el token, extrae usuario y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setea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el contexto de seguridad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SecurityConfig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define rutas públicas/privadas, manejos de sesión, CORS, autenticación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PasswordEncoderConfig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fuerza uso de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BCryptPasswordEncoder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para contraseñas encriptadas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ApplicationConfig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provee instancias del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UserDetailsService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y autenticación.</a:t>
            </a:r>
            <a:endParaRPr lang="es-CL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52399F72-4C3A-13DE-5D94-10656AAC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7403766"/>
            <a:ext cx="722924" cy="722924"/>
          </a:xfrm>
          <a:prstGeom prst="rect">
            <a:avLst/>
          </a:prstGeom>
        </p:spPr>
      </p:pic>
      <p:pic>
        <p:nvPicPr>
          <p:cNvPr id="1026" name="Picture 2" descr="Creating your first Spring Boot application | by Aleksandar Grujic | Medium">
            <a:extLst>
              <a:ext uri="{FF2B5EF4-FFF2-40B4-BE49-F238E27FC236}">
                <a16:creationId xmlns:a16="http://schemas.microsoft.com/office/drawing/2014/main" id="{1669C5B7-77A7-2B1A-23E0-09B72732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240" y="1102215"/>
            <a:ext cx="4896130" cy="20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Logo - símbolo, significado logotipo, historia, PNG">
            <a:extLst>
              <a:ext uri="{FF2B5EF4-FFF2-40B4-BE49-F238E27FC236}">
                <a16:creationId xmlns:a16="http://schemas.microsoft.com/office/drawing/2014/main" id="{AFC7AE6A-84FF-7EA3-9E2A-AEB85C7F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0790" y="992604"/>
            <a:ext cx="2847593" cy="177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0188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0943160-07CA-7A10-6214-25672561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A6A848B1-32FE-1F31-4EE8-6197EBEDA3FD}"/>
              </a:ext>
            </a:extLst>
          </p:cNvPr>
          <p:cNvSpPr txBox="1"/>
          <p:nvPr/>
        </p:nvSpPr>
        <p:spPr>
          <a:xfrm>
            <a:off x="6349207" y="114824"/>
            <a:ext cx="558958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Desarrollo </a:t>
            </a:r>
            <a:r>
              <a:rPr lang="es-CL" sz="4900" b="1" dirty="0" err="1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Frontend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8D28D2-38CF-BFE4-28F7-D308ACE571F5}"/>
              </a:ext>
            </a:extLst>
          </p:cNvPr>
          <p:cNvSpPr/>
          <p:nvPr/>
        </p:nvSpPr>
        <p:spPr>
          <a:xfrm>
            <a:off x="-928051" y="978597"/>
            <a:ext cx="19816549" cy="86449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Google Shape;173;p18">
            <a:extLst>
              <a:ext uri="{FF2B5EF4-FFF2-40B4-BE49-F238E27FC236}">
                <a16:creationId xmlns:a16="http://schemas.microsoft.com/office/drawing/2014/main" id="{E536E282-5E2E-7334-85B0-931B83DEF4A5}"/>
              </a:ext>
            </a:extLst>
          </p:cNvPr>
          <p:cNvSpPr txBox="1"/>
          <p:nvPr/>
        </p:nvSpPr>
        <p:spPr>
          <a:xfrm>
            <a:off x="1376870" y="6183374"/>
            <a:ext cx="187129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Router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F51D4D-1A9E-9DDE-017A-E71277AFAFFC}"/>
              </a:ext>
            </a:extLst>
          </p:cNvPr>
          <p:cNvSpPr/>
          <p:nvPr/>
        </p:nvSpPr>
        <p:spPr>
          <a:xfrm>
            <a:off x="2094927" y="6720971"/>
            <a:ext cx="6544101" cy="6170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Organiza el flujo entre pantallas según sesión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57D783-382E-66B0-2412-8A8AA7E4B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6" y="1284531"/>
            <a:ext cx="722924" cy="722924"/>
          </a:xfrm>
          <a:prstGeom prst="rect">
            <a:avLst/>
          </a:prstGeom>
        </p:spPr>
      </p:pic>
      <p:sp>
        <p:nvSpPr>
          <p:cNvPr id="6" name="Google Shape;173;p18">
            <a:extLst>
              <a:ext uri="{FF2B5EF4-FFF2-40B4-BE49-F238E27FC236}">
                <a16:creationId xmlns:a16="http://schemas.microsoft.com/office/drawing/2014/main" id="{5816C064-9EA1-E93A-F9C0-25F07BDB14ED}"/>
              </a:ext>
            </a:extLst>
          </p:cNvPr>
          <p:cNvSpPr txBox="1"/>
          <p:nvPr/>
        </p:nvSpPr>
        <p:spPr>
          <a:xfrm>
            <a:off x="1376467" y="1441321"/>
            <a:ext cx="1635456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Screen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21F0C6-8F73-A091-A40E-CF86430C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2775961"/>
            <a:ext cx="722924" cy="722924"/>
          </a:xfrm>
          <a:prstGeom prst="rect">
            <a:avLst/>
          </a:prstGeom>
        </p:spPr>
      </p:pic>
      <p:sp>
        <p:nvSpPr>
          <p:cNvPr id="8" name="Google Shape;173;p18">
            <a:extLst>
              <a:ext uri="{FF2B5EF4-FFF2-40B4-BE49-F238E27FC236}">
                <a16:creationId xmlns:a16="http://schemas.microsoft.com/office/drawing/2014/main" id="{B2729B42-4CB9-5FF9-BA67-160D07554755}"/>
              </a:ext>
            </a:extLst>
          </p:cNvPr>
          <p:cNvSpPr txBox="1"/>
          <p:nvPr/>
        </p:nvSpPr>
        <p:spPr>
          <a:xfrm>
            <a:off x="1390115" y="2932751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Services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47A31F-48A6-B0B9-8368-CFE83C0F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4288008"/>
            <a:ext cx="722924" cy="722924"/>
          </a:xfrm>
          <a:prstGeom prst="rect">
            <a:avLst/>
          </a:prstGeom>
        </p:spPr>
      </p:pic>
      <p:sp>
        <p:nvSpPr>
          <p:cNvPr id="10" name="Google Shape;173;p18">
            <a:extLst>
              <a:ext uri="{FF2B5EF4-FFF2-40B4-BE49-F238E27FC236}">
                <a16:creationId xmlns:a16="http://schemas.microsoft.com/office/drawing/2014/main" id="{678C7DAC-A18C-C5AC-E95D-533818942AE1}"/>
              </a:ext>
            </a:extLst>
          </p:cNvPr>
          <p:cNvSpPr txBox="1"/>
          <p:nvPr/>
        </p:nvSpPr>
        <p:spPr>
          <a:xfrm>
            <a:off x="1390114" y="4444798"/>
            <a:ext cx="187129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Context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845E26-7425-DAD6-0854-F2479EFA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5998046"/>
            <a:ext cx="722924" cy="72292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A24FA34-0E7A-BA91-E153-47F52A607901}"/>
              </a:ext>
            </a:extLst>
          </p:cNvPr>
          <p:cNvSpPr/>
          <p:nvPr/>
        </p:nvSpPr>
        <p:spPr>
          <a:xfrm>
            <a:off x="2108175" y="2022553"/>
            <a:ext cx="6530854" cy="64538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Renderizan la UI y capturan interacción del usuario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94C5FB6-F5A2-76D0-355B-FAAD8AF36383}"/>
              </a:ext>
            </a:extLst>
          </p:cNvPr>
          <p:cNvSpPr/>
          <p:nvPr/>
        </p:nvSpPr>
        <p:spPr>
          <a:xfrm>
            <a:off x="2108174" y="3470348"/>
            <a:ext cx="6544101" cy="57475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Gestionan peticiones al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backend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e inyectan el JWT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C109C4B-137C-1581-C78D-99C9551FB5A7}"/>
              </a:ext>
            </a:extLst>
          </p:cNvPr>
          <p:cNvSpPr/>
          <p:nvPr/>
        </p:nvSpPr>
        <p:spPr>
          <a:xfrm>
            <a:off x="2108173" y="5042419"/>
            <a:ext cx="6544101" cy="6685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Manejan autenticación, tema, alertas y estado global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8" name="Google Shape;173;p18">
            <a:extLst>
              <a:ext uri="{FF2B5EF4-FFF2-40B4-BE49-F238E27FC236}">
                <a16:creationId xmlns:a16="http://schemas.microsoft.com/office/drawing/2014/main" id="{14254DCC-5A1F-AFBD-2B02-FDE5FEEA4480}"/>
              </a:ext>
            </a:extLst>
          </p:cNvPr>
          <p:cNvSpPr txBox="1"/>
          <p:nvPr/>
        </p:nvSpPr>
        <p:spPr>
          <a:xfrm>
            <a:off x="1363221" y="7828987"/>
            <a:ext cx="225343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Components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18523AD-6017-4F33-B84E-B2029E02A133}"/>
              </a:ext>
            </a:extLst>
          </p:cNvPr>
          <p:cNvSpPr/>
          <p:nvPr/>
        </p:nvSpPr>
        <p:spPr>
          <a:xfrm>
            <a:off x="2081279" y="8366584"/>
            <a:ext cx="6544101" cy="6170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Botones, inputs,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cards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modales reutilizables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D410C3F-4142-7FDF-D885-2D29D70A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6" y="7643659"/>
            <a:ext cx="722924" cy="722924"/>
          </a:xfrm>
          <a:prstGeom prst="rect">
            <a:avLst/>
          </a:prstGeom>
        </p:spPr>
      </p:pic>
      <p:pic>
        <p:nvPicPr>
          <p:cNvPr id="2052" name="Picture 4" descr="TypeScript and Create-React-App. A quick how-to! | by Julia Zolotarev |  CodeX | Medium">
            <a:extLst>
              <a:ext uri="{FF2B5EF4-FFF2-40B4-BE49-F238E27FC236}">
                <a16:creationId xmlns:a16="http://schemas.microsoft.com/office/drawing/2014/main" id="{6775F5CC-24ED-DEB1-E043-02B5134DB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033" y="2022553"/>
            <a:ext cx="6314769" cy="378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cono de Expo logo">
            <a:extLst>
              <a:ext uri="{FF2B5EF4-FFF2-40B4-BE49-F238E27FC236}">
                <a16:creationId xmlns:a16="http://schemas.microsoft.com/office/drawing/2014/main" id="{1D9C7E32-8C45-D532-619C-879C0CF2F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527" y="5548611"/>
            <a:ext cx="2961779" cy="296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36745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64000">
              <a:srgbClr val="80ABE0"/>
            </a:gs>
            <a:gs pos="100000">
              <a:srgbClr val="003296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9F7C44BF-9EBA-4EBD-8595-EEF69898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F5579EB-E093-E383-6E5D-E19B01614E31}"/>
              </a:ext>
            </a:extLst>
          </p:cNvPr>
          <p:cNvSpPr/>
          <p:nvPr/>
        </p:nvSpPr>
        <p:spPr>
          <a:xfrm>
            <a:off x="1419369" y="3078582"/>
            <a:ext cx="6971731" cy="44967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9397D305-FBB9-A21E-F489-4AC6489FBC60}"/>
              </a:ext>
            </a:extLst>
          </p:cNvPr>
          <p:cNvSpPr txBox="1"/>
          <p:nvPr/>
        </p:nvSpPr>
        <p:spPr>
          <a:xfrm>
            <a:off x="11448196" y="1847476"/>
            <a:ext cx="386913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1" dirty="0">
                <a:solidFill>
                  <a:srgbClr val="002060"/>
                </a:solidFill>
                <a:latin typeface="Berlin Sans FB Demi" panose="020E0802020502020306" pitchFamily="34" charset="0"/>
                <a:sym typeface="Proxima Nova"/>
              </a:rPr>
              <a:t>Futuros alcances</a:t>
            </a:r>
            <a:endParaRPr sz="40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16A598-5E84-A266-473E-F73475F2383D}"/>
              </a:ext>
            </a:extLst>
          </p:cNvPr>
          <p:cNvSpPr txBox="1"/>
          <p:nvPr/>
        </p:nvSpPr>
        <p:spPr>
          <a:xfrm>
            <a:off x="1735541" y="3656544"/>
            <a:ext cx="63393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El backend en Spring Boot está implementado con controladores, servicios, seguridad JWT y persistencia en MySQL.</a:t>
            </a:r>
          </a:p>
          <a:p>
            <a:b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</a:b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La app móvil en React Native está desarrollada con gestión de alarmas, grupos, usuarios y persistencia local alimentada por el backend.</a:t>
            </a:r>
          </a:p>
          <a:p>
            <a:b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</a:b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Las notificaciones locales funcionan a través de Notifee para recordar medicamentos.</a:t>
            </a:r>
            <a:endParaRPr lang="es-CL" sz="20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AAF49E-D239-F182-22CC-8DCE491AD0A3}"/>
              </a:ext>
            </a:extLst>
          </p:cNvPr>
          <p:cNvSpPr txBox="1"/>
          <p:nvPr/>
        </p:nvSpPr>
        <p:spPr>
          <a:xfrm>
            <a:off x="1766248" y="1785921"/>
            <a:ext cx="6277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Cumplimiento de objetivos </a:t>
            </a:r>
            <a:endParaRPr lang="es-CL" sz="40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7AEAC4-6A28-8AF9-1646-6C2783C6C6EA}"/>
              </a:ext>
            </a:extLst>
          </p:cNvPr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23DE2CC-125C-3243-4A1C-85EB44CBBC8C}"/>
              </a:ext>
            </a:extLst>
          </p:cNvPr>
          <p:cNvSpPr/>
          <p:nvPr/>
        </p:nvSpPr>
        <p:spPr>
          <a:xfrm>
            <a:off x="9896899" y="3078582"/>
            <a:ext cx="6971731" cy="44967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AA99EA-E898-23D5-9DFA-2FC0326A35E5}"/>
              </a:ext>
            </a:extLst>
          </p:cNvPr>
          <p:cNvSpPr txBox="1"/>
          <p:nvPr/>
        </p:nvSpPr>
        <p:spPr>
          <a:xfrm>
            <a:off x="10213073" y="3434146"/>
            <a:ext cx="6339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Asociarse con farmacias del país para incluir en la APP las ofertas del día con mayor relevancia a los medicamentos registrados en las alarmas.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Alimentar la aplicación con una API de los medicamentos existentes del país para obtener nombres reales y características especificas para registrar alarmas.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Integrar nuevas funciones y/o considerar las funciones opcionales que se registraron en el levantamiento de requerimientos.</a:t>
            </a:r>
            <a:endParaRPr lang="es-CL" sz="20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067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6248399" y="1344640"/>
            <a:ext cx="5791201" cy="1286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8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Conclusión</a:t>
            </a:r>
            <a:endParaRPr sz="8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14005141" y="-307540"/>
            <a:ext cx="11766156" cy="10902079"/>
          </a:xfrm>
          <a:custGeom>
            <a:avLst/>
            <a:gdLst/>
            <a:ahLst/>
            <a:cxnLst/>
            <a:rect l="l" t="t" r="r" b="b"/>
            <a:pathLst>
              <a:path w="11766156" h="10902079" extrusionOk="0">
                <a:moveTo>
                  <a:pt x="0" y="0"/>
                </a:moveTo>
                <a:lnTo>
                  <a:pt x="11766156" y="0"/>
                </a:lnTo>
                <a:lnTo>
                  <a:pt x="11766156" y="10902078"/>
                </a:lnTo>
                <a:lnTo>
                  <a:pt x="0" y="1090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4F4654B-DA87-D85D-74B2-08580ABD9024}"/>
              </a:ext>
            </a:extLst>
          </p:cNvPr>
          <p:cNvSpPr/>
          <p:nvPr/>
        </p:nvSpPr>
        <p:spPr>
          <a:xfrm>
            <a:off x="3034144" y="3214256"/>
            <a:ext cx="12219709" cy="5126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YourMeds es una solución tecnológica que aborda una problemática real y cotidiana, el olvido en la toma de medicamentos. Nuestro proyecto busca mejorar la adherencia a los tratamientos, apoyando a los pacientes para que sean más responsables y constantes con las indicaciones de su médico. Con esta aplicación contribuimos a reducir malos hábitos, prevenir complicaciones y aumentar la efectividad de los tratamientos, entregando una herramienta simple, moderna y realmente útil para la salud de las personas.</a:t>
            </a:r>
            <a:endParaRPr lang="es-CL" sz="2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38C2C10-C042-04F8-89E5-A60ADB2E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5A62D8DE-3B17-62F6-B1B2-907E59CBAD3C}"/>
              </a:ext>
            </a:extLst>
          </p:cNvPr>
          <p:cNvSpPr txBox="1"/>
          <p:nvPr/>
        </p:nvSpPr>
        <p:spPr>
          <a:xfrm>
            <a:off x="5819183" y="4267950"/>
            <a:ext cx="5676204" cy="17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976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Gracias!</a:t>
            </a:r>
            <a:endParaRPr dirty="0"/>
          </a:p>
        </p:txBody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FDBA210F-4A0E-A217-EA0D-85B8917924F3}"/>
              </a:ext>
            </a:extLst>
          </p:cNvPr>
          <p:cNvSpPr/>
          <p:nvPr/>
        </p:nvSpPr>
        <p:spPr>
          <a:xfrm>
            <a:off x="8657285" y="-307540"/>
            <a:ext cx="11766156" cy="10902079"/>
          </a:xfrm>
          <a:custGeom>
            <a:avLst/>
            <a:gdLst/>
            <a:ahLst/>
            <a:cxnLst/>
            <a:rect l="l" t="t" r="r" b="b"/>
            <a:pathLst>
              <a:path w="11766156" h="10902079" extrusionOk="0">
                <a:moveTo>
                  <a:pt x="0" y="0"/>
                </a:moveTo>
                <a:lnTo>
                  <a:pt x="11766156" y="0"/>
                </a:lnTo>
                <a:lnTo>
                  <a:pt x="11766156" y="10902078"/>
                </a:lnTo>
                <a:lnTo>
                  <a:pt x="0" y="1090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29718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</TotalTime>
  <Words>855</Words>
  <Application>Microsoft Office PowerPoint</Application>
  <PresentationFormat>Personalizado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Proxima Nova</vt:lpstr>
      <vt:lpstr>Berlin Sans FB Demi</vt:lpstr>
      <vt:lpstr>Noto Sans Symbols</vt:lpstr>
      <vt:lpstr>Wingdings</vt:lpstr>
      <vt:lpstr>Calibri</vt:lpstr>
      <vt:lpstr>Arial</vt:lpstr>
      <vt:lpstr>ADLaM Display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Cristian Ferreira</dc:creator>
  <cp:lastModifiedBy>Cristian Ferreira</cp:lastModifiedBy>
  <cp:revision>13</cp:revision>
  <dcterms:modified xsi:type="dcterms:W3CDTF">2025-11-20T15:09:47Z</dcterms:modified>
</cp:coreProperties>
</file>